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Context window (K tokens)</c:v>
                </c:pt>
              </c:strCache>
            </c:strRef>
          </c:tx>
          <c:spPr>
            <a:solidFill>
              <a:srgbClr val="3D2E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E6EDF3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2E6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4A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7B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GPT-3 '20</c:v>
                  </c:pt>
                  <c:pt idx="1">
                    <c:v>GPT-4 '23</c:v>
                  </c:pt>
                  <c:pt idx="2">
                    <c:v>4-Turbo '23</c:v>
                  </c:pt>
                  <c:pt idx="3">
                    <c:v>Gemini 1.5 '24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32</c:v>
                </c:pt>
                <c:pt idx="2">
                  <c:v>128</c:v>
                </c:pt>
                <c:pt idx="3">
                  <c:v>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50" u="none">
                  <a:solidFill>
                    <a:srgbClr val="E6EDF3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2304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D8CA3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E152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in six years, building with AI moved three levels up the stack — from wording prompts, to engineering context, to engineering the whole machine around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of the talk. Each stage asks a different question: how do I ask? what does it know? what can it 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engineering: the model as an oracle. Key insight of 2020-22 — you program it with natural language. ReAct is the bridge out: reasoning plus acting.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structural failures, all outside the prompt itself. This is what stage 2 attacks: give the model a world, not better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context: the window is the model's working memory, and it grew ~500x. The job shifted from writing the prompt to curating everything that enters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stage-2 toolkit. RAG grounds answers, memory persists across time, tool use reaches the real world. MCP in late 2024 is the bridge to stage 3: standardized actuation.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slide: the harness is the OS around the model — loop, tools, memory, permissions, sandbox. 2025's jump in agent capability came mostly from harness engineering, not new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Framework arc: experiments (2023) -&gt; orchestration (2024) -&gt; production coding agents &amp; protocols (2025) -&gt; ubiquitous personal agents (OpenClaw, late 2025 into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one column per stage. Notice each stage absorbs the previous one rather than replacing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prompts still start every turn, context still feeds it — but the harness now decides how far an agent can go. The frontier is the machine around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3246120"/>
            <a:ext cx="2743200" cy="27432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722876" y="3246120"/>
            <a:ext cx="2743200" cy="2743200"/>
          </a:xfrm>
          <a:prstGeom prst="ellipse">
            <a:avLst/>
          </a:prstGeom>
          <a:solidFill>
            <a:srgbClr val="A78BF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348472" y="3246120"/>
            <a:ext cx="2743200" cy="27432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7276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~/$ evolve --from prompts --to harness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Evolution of AI Agents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Engineering  →  Context Engineering  →  Harness Engineering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80160" y="4617720"/>
            <a:ext cx="9646920" cy="0"/>
          </a:xfrm>
          <a:prstGeom prst="line">
            <a:avLst/>
          </a:prstGeom>
          <a:noFill/>
          <a:ln w="19050">
            <a:solidFill>
              <a:srgbClr val="2230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10881360" y="4535424"/>
            <a:ext cx="146304" cy="164592"/>
          </a:xfrm>
          <a:prstGeom prst="triangle">
            <a:avLst/>
          </a:prstGeom>
          <a:solidFill>
            <a:srgbClr val="22304A"/>
          </a:solidFill>
          <a:ln/>
        </p:spPr>
      </p:sp>
      <p:sp>
        <p:nvSpPr>
          <p:cNvPr id="10" name="Shape 8"/>
          <p:cNvSpPr/>
          <p:nvPr/>
        </p:nvSpPr>
        <p:spPr>
          <a:xfrm>
            <a:off x="2313432" y="4462272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965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 – 2023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5276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Engineering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39028" y="4462272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4722876" y="4965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 – 2025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94276" y="5276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564624" y="4462272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8348472" y="4965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 →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119872" y="5276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Harness Engineering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626364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 — 2026 · a field guide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389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timeline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Stages, Six Years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566928"/>
            <a:ext cx="109728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0" y="521208"/>
            <a:ext cx="91440" cy="91440"/>
          </a:xfrm>
          <a:prstGeom prst="ellipse">
            <a:avLst/>
          </a:prstGeom>
          <a:solidFill>
            <a:srgbClr val="3A465E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521208"/>
            <a:ext cx="91440" cy="91440"/>
          </a:xfrm>
          <a:prstGeom prst="ellipse">
            <a:avLst/>
          </a:prstGeom>
          <a:solidFill>
            <a:srgbClr val="3A465E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521208"/>
            <a:ext cx="91440" cy="91440"/>
          </a:xfrm>
          <a:prstGeom prst="ellipse">
            <a:avLst/>
          </a:prstGeom>
          <a:solidFill>
            <a:srgbClr val="3A465E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1847088"/>
            <a:ext cx="1463040" cy="310896"/>
          </a:xfrm>
          <a:prstGeom prst="roundRect">
            <a:avLst>
              <a:gd name="adj" fmla="val 14706"/>
            </a:avLst>
          </a:prstGeom>
          <a:solidFill>
            <a:srgbClr val="0B25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8470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2494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Craft the instruction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62956" y="1847088"/>
            <a:ext cx="1463040" cy="310896"/>
          </a:xfrm>
          <a:prstGeom prst="roundRect">
            <a:avLst>
              <a:gd name="adj" fmla="val 14706"/>
            </a:avLst>
          </a:prstGeom>
          <a:solidFill>
            <a:srgbClr val="1B16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62956" y="18470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02836" y="22494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Assemble the context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88552" y="1847088"/>
            <a:ext cx="1463040" cy="310896"/>
          </a:xfrm>
          <a:prstGeom prst="roundRect">
            <a:avLst>
              <a:gd name="adj" fmla="val 14706"/>
            </a:avLst>
          </a:prstGeom>
          <a:solidFill>
            <a:srgbClr val="0C241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8552" y="18470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28432" y="22494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 the machine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3246120"/>
            <a:ext cx="10515600" cy="0"/>
          </a:xfrm>
          <a:prstGeom prst="line">
            <a:avLst/>
          </a:prstGeom>
          <a:noFill/>
          <a:ln w="25400">
            <a:solidFill>
              <a:srgbClr val="2230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11338560" y="3145536"/>
            <a:ext cx="182880" cy="201168"/>
          </a:xfrm>
          <a:prstGeom prst="triangle">
            <a:avLst/>
          </a:prstGeom>
          <a:solidFill>
            <a:srgbClr val="22304A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4560" y="2971800"/>
            <a:ext cx="548640" cy="548640"/>
          </a:xfrm>
          <a:prstGeom prst="ellipse">
            <a:avLst/>
          </a:prstGeom>
          <a:solidFill>
            <a:srgbClr val="0A0E17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13432" y="3090672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6393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Engineering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68680" y="4078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 – 2023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440740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Crafting instructions that make the model comply — examples, reasoning steps, personas.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5349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few-shot · CoT · role prompts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20156" y="2971800"/>
            <a:ext cx="548640" cy="548640"/>
          </a:xfrm>
          <a:prstGeom prst="ellipse">
            <a:avLst/>
          </a:prstGeom>
          <a:solidFill>
            <a:srgbClr val="0A0E17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39028" y="3090672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4402836" y="36393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Engineering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4494276" y="4078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 – 2025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448556" y="440740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Assembling everything the model sees each turn — knowledge, memory, tool results.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448556" y="5349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· memory · function calling · mcp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445752" y="2971800"/>
            <a:ext cx="548640" cy="548640"/>
          </a:xfrm>
          <a:prstGeom prst="ellipse">
            <a:avLst/>
          </a:prstGeom>
          <a:solidFill>
            <a:srgbClr val="0A0E17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64624" y="3090672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3" name="Text 31"/>
          <p:cNvSpPr/>
          <p:nvPr/>
        </p:nvSpPr>
        <p:spPr>
          <a:xfrm>
            <a:off x="8028432" y="36393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Harness Engineering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8119872" y="4078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 →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074152" y="440740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the machine around the model — loops, permissions, sandboxes, protocols.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074152" y="5349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loop · sandbox · mcp / acp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38251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milestones reflect public releases: openai · anthropic · google · github, 2020–2026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389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stage_01 / origins &amp; techniques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Engineering: Talking to the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566928"/>
            <a:ext cx="109728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05288" y="493776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521208"/>
            <a:ext cx="91440" cy="91440"/>
          </a:xfrm>
          <a:prstGeom prst="ellipse">
            <a:avLst/>
          </a:prstGeom>
          <a:solidFill>
            <a:srgbClr val="3A465E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521208"/>
            <a:ext cx="91440" cy="91440"/>
          </a:xfrm>
          <a:prstGeom prst="ellipse">
            <a:avLst/>
          </a:prstGeom>
          <a:solidFill>
            <a:srgbClr val="3A46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148132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techniques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" y="2057400"/>
            <a:ext cx="0" cy="374904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6092" y="1929384"/>
            <a:ext cx="100584" cy="1005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1874520"/>
            <a:ext cx="4617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GPT-3 unlocks few-shot prompting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Brown et al. show that examples inside the prompt can replace fine-tuning.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6092" y="3008376"/>
            <a:ext cx="100584" cy="1005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953512"/>
            <a:ext cx="4617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Chain-of-Thought &amp; ReAct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“Think step by step” unlocks reasoning; ReAct adds acting — agents previewed.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6092" y="4087368"/>
            <a:ext cx="100584" cy="1005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032504"/>
            <a:ext cx="4617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ChatGPT makes prompting mainstream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100M users in two months; the whole world learns to ask.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6092" y="5166360"/>
            <a:ext cx="100584" cy="1005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5111496"/>
            <a:ext cx="4617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“Prompt engineer” becomes a job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Courses, guides and prompt libraries spread across every industry.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1828800"/>
            <a:ext cx="5605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 / few-shot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the model zero to three examples and it pattern-matches the task.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26480" y="2615184"/>
            <a:ext cx="5605272" cy="0"/>
          </a:xfrm>
          <a:prstGeom prst="line">
            <a:avLst/>
          </a:prstGeom>
          <a:noFill/>
          <a:ln w="9525">
            <a:solidFill>
              <a:srgbClr val="2230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688336"/>
            <a:ext cx="5605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Chain-of-Thought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for step-by-step reasoning; accuracy jumps on logic and math.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26480" y="3474720"/>
            <a:ext cx="5605272" cy="0"/>
          </a:xfrm>
          <a:prstGeom prst="line">
            <a:avLst/>
          </a:prstGeom>
          <a:noFill/>
          <a:ln w="9525">
            <a:solidFill>
              <a:srgbClr val="223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3547872"/>
            <a:ext cx="5605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&amp; system prompts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persona, rules and output format before the user ever speaks.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26480" y="4334256"/>
            <a:ext cx="5605272" cy="0"/>
          </a:xfrm>
          <a:prstGeom prst="line">
            <a:avLst/>
          </a:prstGeom>
          <a:noFill/>
          <a:ln w="9525">
            <a:solidFill>
              <a:srgbClr val="223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407408"/>
            <a:ext cx="5605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Self-consistency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 many reasoning chains, then take the majority answer.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126480" y="5193792"/>
            <a:ext cx="5605272" cy="0"/>
          </a:xfrm>
          <a:prstGeom prst="line">
            <a:avLst/>
          </a:prstGeom>
          <a:noFill/>
          <a:ln w="9525">
            <a:solidFill>
              <a:srgbClr val="2230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5266944"/>
            <a:ext cx="5605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Interleave reasoning with actions — the prototype of an agent loop.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38251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brown et al. 2020 · wei et al. 2022 (cot) · wang et al. 2022 · yao et al. 2022 (react)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389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stage_01 / why it hit a wall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Wall: What Prompting Couldn't Fix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566928"/>
            <a:ext cx="109728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05288" y="493776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521208"/>
            <a:ext cx="91440" cy="91440"/>
          </a:xfrm>
          <a:prstGeom prst="ellipse">
            <a:avLst/>
          </a:prstGeom>
          <a:solidFill>
            <a:srgbClr val="3A465E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521208"/>
            <a:ext cx="91440" cy="91440"/>
          </a:xfrm>
          <a:prstGeom prst="ellipse">
            <a:avLst/>
          </a:prstGeom>
          <a:solidFill>
            <a:srgbClr val="3A46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entire world of gpt-3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2K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tokens of context — the model's entire world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1.5 pages · GPT-3, 2020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627632"/>
            <a:ext cx="3346704" cy="1783080"/>
          </a:xfrm>
          <a:prstGeom prst="roundRect">
            <a:avLst>
              <a:gd name="adj" fmla="val 3590"/>
            </a:avLst>
          </a:prstGeom>
          <a:solidFill>
            <a:srgbClr val="111A2C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65776" y="1828800"/>
            <a:ext cx="2907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AMNESIA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session starts from zero — nothing learned ever persists.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385048" y="1627632"/>
            <a:ext cx="3346704" cy="1783080"/>
          </a:xfrm>
          <a:prstGeom prst="roundRect">
            <a:avLst>
              <a:gd name="adj" fmla="val 3590"/>
            </a:avLst>
          </a:prstGeom>
          <a:solidFill>
            <a:srgbClr val="111A2C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04504" y="1828800"/>
            <a:ext cx="2907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NO HANDS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APIs, files or browsing. The model can only answer, never act.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46320" y="3593592"/>
            <a:ext cx="3346704" cy="1783080"/>
          </a:xfrm>
          <a:prstGeom prst="roundRect">
            <a:avLst>
              <a:gd name="adj" fmla="val 3590"/>
            </a:avLst>
          </a:prstGeom>
          <a:solidFill>
            <a:srgbClr val="111A2C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65776" y="3794760"/>
            <a:ext cx="2907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HALLUCINATION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Fluent and confident, with no grounding in facts or your data.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385048" y="3593592"/>
            <a:ext cx="3346704" cy="1783080"/>
          </a:xfrm>
          <a:prstGeom prst="roundRect">
            <a:avLst>
              <a:gd name="adj" fmla="val 3590"/>
            </a:avLst>
          </a:prstGeom>
          <a:solidFill>
            <a:srgbClr val="111A2C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04504" y="3794760"/>
            <a:ext cx="2907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BRITTLENESS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Reword a single line and accuracy swings wildly.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57607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bottleneck wasn't the wording — it was everything words can't carry: memory, grounding, hands.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389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stage_02 / context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Engineering: Feed the Model a World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566928"/>
            <a:ext cx="109728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0" y="521208"/>
            <a:ext cx="91440" cy="91440"/>
          </a:xfrm>
          <a:prstGeom prst="ellipse">
            <a:avLst/>
          </a:prstGeom>
          <a:solidFill>
            <a:srgbClr val="3A465E"/>
          </a:solidFill>
          <a:ln/>
        </p:spPr>
      </p:sp>
      <p:sp>
        <p:nvSpPr>
          <p:cNvPr id="6" name="Shape 4"/>
          <p:cNvSpPr/>
          <p:nvPr/>
        </p:nvSpPr>
        <p:spPr>
          <a:xfrm>
            <a:off x="10853928" y="493776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521208"/>
            <a:ext cx="91440" cy="91440"/>
          </a:xfrm>
          <a:prstGeom prst="ellipse">
            <a:avLst/>
          </a:prstGeom>
          <a:solidFill>
            <a:srgbClr val="3A46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27632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prompt is one request.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context is a system.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window is working memory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quality is bounded by what fits in context each turn.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2024–25: the term goes mainstream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engineering — assembling knowledge, tools and history at the right moment.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becomes context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Retrieved documents, memories, tool results, instructions — curated, not written.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35040" y="1572768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window — thousands of tokens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035040" y="1920240"/>
          <a:ext cx="5696712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6035040" y="59436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2K → 1,000K · ≈ 500× in four years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38251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openai &amp; google model documentation, 2020–2024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389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stage_02 / the toolkit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· Memory · Tool 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566928"/>
            <a:ext cx="109728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0" y="521208"/>
            <a:ext cx="91440" cy="91440"/>
          </a:xfrm>
          <a:prstGeom prst="ellipse">
            <a:avLst/>
          </a:prstGeom>
          <a:solidFill>
            <a:srgbClr val="3A465E"/>
          </a:solidFill>
          <a:ln/>
        </p:spPr>
      </p:sp>
      <p:sp>
        <p:nvSpPr>
          <p:cNvPr id="6" name="Shape 4"/>
          <p:cNvSpPr/>
          <p:nvPr/>
        </p:nvSpPr>
        <p:spPr>
          <a:xfrm>
            <a:off x="10853928" y="493776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521208"/>
            <a:ext cx="91440" cy="91440"/>
          </a:xfrm>
          <a:prstGeom prst="ellipse">
            <a:avLst/>
          </a:prstGeom>
          <a:solidFill>
            <a:srgbClr val="3A465E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72768"/>
            <a:ext cx="1005840" cy="329184"/>
          </a:xfrm>
          <a:prstGeom prst="roundRect">
            <a:avLst>
              <a:gd name="adj" fmla="val 13889"/>
            </a:avLst>
          </a:prstGeom>
          <a:solidFill>
            <a:srgbClr val="1B16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72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57200" y="24505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grounding in your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 relevant documents at query time and inject them into the prompt. Vector search over your corpus replaces stale training facts.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3611880" cy="603504"/>
          </a:xfrm>
          <a:prstGeom prst="roundRect">
            <a:avLst>
              <a:gd name="adj" fmla="val 9091"/>
            </a:avLst>
          </a:prstGeom>
          <a:solidFill>
            <a:srgbClr val="0E1524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57200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→ embed → retrieve → inject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83964" y="1572768"/>
            <a:ext cx="1005840" cy="329184"/>
          </a:xfrm>
          <a:prstGeom prst="roundRect">
            <a:avLst>
              <a:gd name="adj" fmla="val 13889"/>
            </a:avLst>
          </a:prstGeom>
          <a:solidFill>
            <a:srgbClr val="1B16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83964" y="1572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83964" y="2011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283964" y="24505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knowing you tomorrow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83964" y="2788920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state, long-term facts and user preferences persist beyond one window — the agent recalls earlier turns and past sessions.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83964" y="4572000"/>
            <a:ext cx="3611880" cy="603504"/>
          </a:xfrm>
          <a:prstGeom prst="roundRect">
            <a:avLst>
              <a:gd name="adj" fmla="val 9091"/>
            </a:avLst>
          </a:prstGeom>
          <a:solidFill>
            <a:srgbClr val="0E1524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83964" y="457200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 → summarize → store → recall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10728" y="1572768"/>
            <a:ext cx="1005840" cy="329184"/>
          </a:xfrm>
          <a:prstGeom prst="roundRect">
            <a:avLst>
              <a:gd name="adj" fmla="val 13889"/>
            </a:avLst>
          </a:prstGeom>
          <a:solidFill>
            <a:srgbClr val="1B16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10728" y="1572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10728" y="2011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Use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110728" y="24505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talking to acting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10728" y="2788920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 calling (OpenAI, Jun 2023) lets models invoke real APIs; MCP (Anthropic, Nov 2024) standardizes tool access across every app.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10728" y="4572000"/>
            <a:ext cx="3611880" cy="603504"/>
          </a:xfrm>
          <a:prstGeom prst="roundRect">
            <a:avLst>
              <a:gd name="adj" fmla="val 9091"/>
            </a:avLst>
          </a:prstGeom>
          <a:solidFill>
            <a:srgbClr val="0E1524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457200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 → call api → respond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Prompts became living systems — with knowledge, history and hands.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57200" y="638251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lewis et al. 2020 (rag) · openai jun 2023 (function calling) · anthropic nov 2024 (mcp)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389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stage_03 / harness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Is the CPU. The Harness Is the OS.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566928"/>
            <a:ext cx="109728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0" y="521208"/>
            <a:ext cx="91440" cy="91440"/>
          </a:xfrm>
          <a:prstGeom prst="ellipse">
            <a:avLst/>
          </a:prstGeom>
          <a:solidFill>
            <a:srgbClr val="3A465E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521208"/>
            <a:ext cx="91440" cy="91440"/>
          </a:xfrm>
          <a:prstGeom prst="ellipse">
            <a:avLst/>
          </a:prstGeom>
          <a:solidFill>
            <a:srgbClr val="3A465E"/>
          </a:solidFill>
          <a:ln/>
        </p:spPr>
      </p:sp>
      <p:sp>
        <p:nvSpPr>
          <p:cNvPr id="7" name="Shape 5"/>
          <p:cNvSpPr/>
          <p:nvPr/>
        </p:nvSpPr>
        <p:spPr>
          <a:xfrm>
            <a:off x="11402568" y="493776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2350008"/>
            <a:ext cx="0" cy="804672"/>
          </a:xfrm>
          <a:prstGeom prst="line">
            <a:avLst/>
          </a:prstGeom>
          <a:noFill/>
          <a:ln w="15875">
            <a:solidFill>
              <a:srgbClr val="2A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2752344"/>
            <a:ext cx="502920" cy="402336"/>
          </a:xfrm>
          <a:prstGeom prst="line">
            <a:avLst/>
          </a:prstGeom>
          <a:noFill/>
          <a:ln w="15875">
            <a:solidFill>
              <a:srgbClr val="2A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4526280" y="2752344"/>
            <a:ext cx="457200" cy="402336"/>
          </a:xfrm>
          <a:prstGeom prst="line">
            <a:avLst/>
          </a:prstGeom>
          <a:noFill/>
          <a:ln w="15875">
            <a:solidFill>
              <a:srgbClr val="2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572768" y="4069080"/>
            <a:ext cx="1536192" cy="320040"/>
          </a:xfrm>
          <a:prstGeom prst="line">
            <a:avLst/>
          </a:prstGeom>
          <a:noFill/>
          <a:ln w="15875">
            <a:solidFill>
              <a:srgbClr val="2A3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4069080"/>
            <a:ext cx="1508760" cy="320040"/>
          </a:xfrm>
          <a:prstGeom prst="line">
            <a:avLst/>
          </a:prstGeom>
          <a:noFill/>
          <a:ln w="15875">
            <a:solidFill>
              <a:srgbClr val="2A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178308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0C241C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7830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loop — think · act · observe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2057400" cy="566928"/>
          </a:xfrm>
          <a:prstGeom prst="roundRect">
            <a:avLst>
              <a:gd name="adj" fmla="val 9677"/>
            </a:avLst>
          </a:prstGeom>
          <a:solidFill>
            <a:srgbClr val="0E1524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6888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&amp; apis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83480" y="2468880"/>
            <a:ext cx="2057400" cy="566928"/>
          </a:xfrm>
          <a:prstGeom prst="roundRect">
            <a:avLst>
              <a:gd name="adj" fmla="val 9677"/>
            </a:avLst>
          </a:prstGeom>
          <a:solidFill>
            <a:srgbClr val="0E1524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46888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&amp; context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2057400" cy="566928"/>
          </a:xfrm>
          <a:prstGeom prst="roundRect">
            <a:avLst>
              <a:gd name="adj" fmla="val 9677"/>
            </a:avLst>
          </a:prstGeom>
          <a:solidFill>
            <a:srgbClr val="0E1524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891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83480" y="4389120"/>
            <a:ext cx="2057400" cy="566928"/>
          </a:xfrm>
          <a:prstGeom prst="roundRect">
            <a:avLst>
              <a:gd name="adj" fmla="val 9677"/>
            </a:avLst>
          </a:prstGeom>
          <a:solidFill>
            <a:srgbClr val="0E1524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43891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sandbox &amp; runtime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80360" y="31546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0C241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31546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880360" y="41148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cpu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2120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harness — everything between the user and the weights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1627632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harness wins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406640" y="2148840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Capability moves to the scaffolding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weights, better loop and tools — a far stronger agent.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06640" y="3172968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becomes a managed resource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Compaction, prioritization and skills keep the window useful.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06640" y="4197096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 becomes architecture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Permissions, sandboxes and review gates — not polite instructions.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06640" y="5221224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Harnesses become platforms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protocols let any client drive any agent.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389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stage_03 / frameworks &amp; products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Experiments to Everyday 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566928"/>
            <a:ext cx="109728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0" y="521208"/>
            <a:ext cx="91440" cy="91440"/>
          </a:xfrm>
          <a:prstGeom prst="ellipse">
            <a:avLst/>
          </a:prstGeom>
          <a:solidFill>
            <a:srgbClr val="3A465E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521208"/>
            <a:ext cx="91440" cy="91440"/>
          </a:xfrm>
          <a:prstGeom prst="ellipse">
            <a:avLst/>
          </a:prstGeom>
          <a:solidFill>
            <a:srgbClr val="3A465E"/>
          </a:solidFill>
          <a:ln/>
        </p:spPr>
      </p:sp>
      <p:sp>
        <p:nvSpPr>
          <p:cNvPr id="7" name="Shape 5"/>
          <p:cNvSpPr/>
          <p:nvPr/>
        </p:nvSpPr>
        <p:spPr>
          <a:xfrm>
            <a:off x="11402568" y="493776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103120"/>
            <a:ext cx="10332720" cy="0"/>
          </a:xfrm>
          <a:prstGeom prst="line">
            <a:avLst/>
          </a:prstGeom>
          <a:noFill/>
          <a:ln w="19050">
            <a:solidFill>
              <a:srgbClr val="2230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11155680" y="2020824"/>
            <a:ext cx="146304" cy="164592"/>
          </a:xfrm>
          <a:prstGeom prst="triangle">
            <a:avLst/>
          </a:prstGeom>
          <a:solidFill>
            <a:srgbClr val="22304A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5910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38528" y="2029968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2860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AutoGPT &amp; LangChain — autonomy experiments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55848" y="15910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44568" y="2029968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3355848" y="22860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CrewAI, LangGraph, Devin — orchestration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61888" y="15910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50608" y="2029968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5961888" y="22860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 &amp; Cursor — agents at work · MCP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67928" y="15910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2025–26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756648" y="2029968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8567928" y="22860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OpenClaw — personal agents for everyone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3611880" cy="2697480"/>
          </a:xfrm>
          <a:prstGeom prst="roundRect">
            <a:avLst>
              <a:gd name="adj" fmla="val 2373"/>
            </a:avLst>
          </a:prstGeom>
          <a:solidFill>
            <a:srgbClr val="111A2C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3291840"/>
            <a:ext cx="31729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 2023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AutoGPT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it a goal in plain English and it plans, browses, writes and executes in a loop — the first mainstream taste of autonomous agents, limits included.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7D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165k github stars at peak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83964" y="3108960"/>
            <a:ext cx="3611880" cy="2697480"/>
          </a:xfrm>
          <a:prstGeom prst="roundRect">
            <a:avLst>
              <a:gd name="adj" fmla="val 2373"/>
            </a:avLst>
          </a:prstGeom>
          <a:solidFill>
            <a:srgbClr val="111A2C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3420" y="3291840"/>
            <a:ext cx="31729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ACP Agent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Client Protocol: an open JSON-RPC standard with a Rust SDK that lets any editor host any coding agent — Claude Code and Gemini CLI plug in as backends.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7D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agentclientprotocol.com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10728" y="3108960"/>
            <a:ext cx="3611880" cy="2697480"/>
          </a:xfrm>
          <a:prstGeom prst="roundRect">
            <a:avLst>
              <a:gd name="adj" fmla="val 2373"/>
            </a:avLst>
          </a:prstGeom>
          <a:solidFill>
            <a:srgbClr val="111A2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0184" y="3291840"/>
            <a:ext cx="31729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 2025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OpenClaw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Open-source personal agent that runs on your own machine and answers on WhatsApp or Telegram. Born as Clawdbot, renamed Moltbot, then OpenClaw after trademark pushback.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clawdbot → moltbot → openclaw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38251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github.com/significant-gravitas · agentclientprotocol.com · openclaw.ai — oct 2026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389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compare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Stages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566928"/>
            <a:ext cx="109728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0" y="521208"/>
            <a:ext cx="91440" cy="91440"/>
          </a:xfrm>
          <a:prstGeom prst="ellipse">
            <a:avLst/>
          </a:prstGeom>
          <a:solidFill>
            <a:srgbClr val="3A465E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521208"/>
            <a:ext cx="91440" cy="91440"/>
          </a:xfrm>
          <a:prstGeom prst="ellipse">
            <a:avLst/>
          </a:prstGeom>
          <a:solidFill>
            <a:srgbClr val="3A465E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521208"/>
            <a:ext cx="91440" cy="91440"/>
          </a:xfrm>
          <a:prstGeom prst="ellipse">
            <a:avLst/>
          </a:prstGeom>
          <a:solidFill>
            <a:srgbClr val="3A465E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745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82112"/>
                <a:gridCol w="3182112"/>
                <a:gridCol w="317296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D3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STAGE 01 · PROMPT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STAGE 02 · CONTEXT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STAGE 03 · HARNESS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D8C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2020 – 2023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2023 – 2025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2025 →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D8C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core question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do I ask?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does it know?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can it do?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D8C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 tech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few-shot · CoT · role prompts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RAG · memory · function calling · MCP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 loop · permissions · sandbox · ACP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D8C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the model is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 oracle you consult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component you feed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CPU of an OS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D8C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killer apps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ChatGPT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copilots &amp; RAG bots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coding &amp; personal agents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D8C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icons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GPT-3 · ChatGPT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GPT-4 · Gemini 1.5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AutoGPT · Claude Code · OpenClaw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38251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of public releases &amp; product launches, 2020–2026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43000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stage absorbed the last.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127248" y="2834640"/>
            <a:ext cx="5943600" cy="2103120"/>
          </a:xfrm>
          <a:prstGeom prst="roundRect">
            <a:avLst>
              <a:gd name="adj" fmla="val 3478"/>
            </a:avLst>
          </a:prstGeom>
          <a:solidFill>
            <a:srgbClr val="0E1524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93008" y="3255264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3767328" y="31821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stage_01 · prompts — still how every turn starts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3008" y="3785616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3767328" y="37124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stage_02 · context — still what every turn sees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93008" y="43159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3767328" y="42428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stage_03 · harness — now deciding how far it goes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534924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D8C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agent-to-agent protocols · personal agents everywhere · permission-first security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626364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evolution of ai agents · 2020 —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Evolution of AI Agents</dc:title>
  <dc:subject>PptxGenJS Presentation</dc:subject>
  <dc:creator>ZCode</dc:creator>
  <cp:lastModifiedBy>ZCode</cp:lastModifiedBy>
  <cp:revision>1</cp:revision>
  <dcterms:created xsi:type="dcterms:W3CDTF">2026-10-15T21:45:21Z</dcterms:created>
  <dcterms:modified xsi:type="dcterms:W3CDTF">2026-10-15T21:45:21Z</dcterms:modified>
</cp:coreProperties>
</file>